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4800"/>
              </a:lnSpc>
              <a:buNone/>
            </a:pPr>
            <a:r>
              <a:rPr lang="en-US" sz="3600" b="1" dirty="0">
                <a:solidFill>
                  <a:srgbClr val="E4E4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持仓逻辑更新</a:t>
            </a:r>
            <a:endParaRPr lang="en-US" sz="3600" dirty="0"/>
          </a:p>
          <a:p>
            <a:pPr algn="ctr" indent="0" marL="0">
              <a:lnSpc>
                <a:spcPts val="4800"/>
              </a:lnSpc>
              <a:buNone/>
            </a:pPr>
            <a:r>
              <a:rPr lang="en-US" sz="3600" b="1" dirty="0">
                <a:solidFill>
                  <a:srgbClr val="E4E4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下一步操作计划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0A040"/>
                </a:solidFill>
              </a:rPr>
              <a:t>7/7复核→7/12最新变化 | 12只持仓+观察跟踪 | V4.0体系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57200" y="3383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E8EA0"/>
                </a:solidFill>
              </a:rPr>
              <a:t>2026年7月12日 · Wind数据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DA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核心结论：逻辑未破·持仓不动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548640" cy="27432"/>
          </a:xfrm>
          <a:prstGeom prst="rect">
            <a:avLst/>
          </a:prstGeom>
          <a:solidFill>
            <a:srgbClr val="4DA6FF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097280"/>
            <a:ext cx="8595360" cy="1188720"/>
          </a:xfrm>
          <a:prstGeom prst="roundRect">
            <a:avLst>
              <a:gd name="adj" fmla="val 7692"/>
            </a:avLst>
          </a:prstGeom>
          <a:solidFill>
            <a:srgbClr val="16213E"/>
          </a:solidFill>
          <a:ln w="12700">
            <a:solidFill>
              <a:srgbClr val="3DD6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28016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D68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12/12 持仓逻辑全部未破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173736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E4E8"/>
                </a:solidFill>
              </a:rPr>
              <a:t>7/9-7/10科创50极端振幅(+8.4%→-5.5%)=人为制造的分歧，非基本面恶化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2468880"/>
            <a:ext cx="8595360" cy="182880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 w="12700">
            <a:solidFill>
              <a:srgbClr val="4DA6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65176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DA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外部双重锁定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310896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E4E4E8"/>
                </a:solidFill>
              </a:rPr>
              <a:t>英伟达：单季千亿美元营收+内存紧缺持续数年</a:t>
            </a:r>
            <a:endParaRPr lang="en-US" sz="13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E4E4E8"/>
                </a:solidFill>
              </a:rPr>
              <a:t>李尚龙：AI=美元信用锚点→CSP Capex不能下修→不存在中途退出选项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39319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A0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持仓不增不减·等CSP四连击双线确认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DA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S级核心·坚定持有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548640" cy="27432"/>
          </a:xfrm>
          <a:prstGeom prst="rect">
            <a:avLst/>
          </a:prstGeom>
          <a:solidFill>
            <a:srgbClr val="4DA6FF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097280"/>
            <a:ext cx="8595360" cy="1097280"/>
          </a:xfrm>
          <a:prstGeom prst="roundRect">
            <a:avLst>
              <a:gd name="adj" fmla="val 8333"/>
            </a:avLst>
          </a:prstGeom>
          <a:solidFill>
            <a:srgbClr val="16213E"/>
          </a:solidFill>
          <a:ln w="12700">
            <a:solidFill>
              <a:srgbClr val="F0A0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887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A0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澜起科技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4E4E8"/>
                </a:solidFill>
              </a:rPr>
              <a:t>3299亿 · PE127.9 · 卡点:②③双卡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8288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8EA0"/>
                </a:solidFill>
              </a:rPr>
              <a:t>英伟达确认内存紧缺数年·逻辑强化·底仓不动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2377440"/>
            <a:ext cx="8595360" cy="1097280"/>
          </a:xfrm>
          <a:prstGeom prst="roundRect">
            <a:avLst>
              <a:gd name="adj" fmla="val 8333"/>
            </a:avLst>
          </a:prstGeom>
          <a:solidFill>
            <a:srgbClr val="16213E"/>
          </a:solidFill>
          <a:ln w="12700">
            <a:solidFill>
              <a:srgbClr val="F0A0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4688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A0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汇绿生态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28346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4E4E8"/>
                </a:solidFill>
              </a:rPr>
              <a:t>341亿 · PE409.8 · 卡点:⑤CPO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1089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8EA0"/>
                </a:solidFill>
              </a:rPr>
              <a:t>光模块2027需求上修50%·暴跌仅-0.37%极度抗跌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3657600"/>
            <a:ext cx="8595360" cy="1097280"/>
          </a:xfrm>
          <a:prstGeom prst="roundRect">
            <a:avLst>
              <a:gd name="adj" fmla="val 8333"/>
            </a:avLst>
          </a:prstGeom>
          <a:solidFill>
            <a:srgbClr val="16213E"/>
          </a:solidFill>
          <a:ln w="12700">
            <a:solidFill>
              <a:srgbClr val="F0A0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7490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A0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三祥新材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7200" y="41148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4E4E8"/>
                </a:solidFill>
              </a:rPr>
              <a:t>314亿 · PE222.6 · 卡点:①间接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43891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8EA0"/>
                </a:solidFill>
              </a:rPr>
              <a:t>S级锁定·500亿前不减仓·固态电池+锆铪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DA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A级+利润仓·持有观察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548640" cy="27432"/>
          </a:xfrm>
          <a:prstGeom prst="rect">
            <a:avLst/>
          </a:prstGeom>
          <a:solidFill>
            <a:srgbClr val="4DA6FF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097280"/>
            <a:ext cx="8595360" cy="822960"/>
          </a:xfrm>
          <a:prstGeom prst="roundRect">
            <a:avLst>
              <a:gd name="adj" fmla="val 8889"/>
            </a:avLst>
          </a:prstGeom>
          <a:solidFill>
            <a:srgbClr val="16213E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DA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罗博特科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286000" y="11887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4E4E8"/>
                </a:solidFill>
              </a:rPr>
              <a:t>820亿·亏损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8EA0"/>
                </a:solidFill>
              </a:rPr>
              <a:t>ficonTEC在手23亿·台积电唯一指定·逻辑最硬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2057400"/>
            <a:ext cx="8595360" cy="822960"/>
          </a:xfrm>
          <a:prstGeom prst="roundRect">
            <a:avLst>
              <a:gd name="adj" fmla="val 8889"/>
            </a:avLst>
          </a:prstGeom>
          <a:solidFill>
            <a:srgbClr val="16213E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1488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DA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软通动力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286000" y="2148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4E4E8"/>
                </a:solidFill>
              </a:rPr>
              <a:t>433亿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25146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8EA0"/>
                </a:solidFill>
              </a:rPr>
              <a:t>浮盈+418%·Q1亏损已消化·降级风险解除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3017520"/>
            <a:ext cx="8595360" cy="822960"/>
          </a:xfrm>
          <a:prstGeom prst="roundRect">
            <a:avLst>
              <a:gd name="adj" fmla="val 8889"/>
            </a:avLst>
          </a:prstGeom>
          <a:solidFill>
            <a:srgbClr val="16213E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1089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DA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兴森科技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286000" y="31089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4E4E8"/>
                </a:solidFill>
              </a:rPr>
              <a:t>699亿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34747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8EA0"/>
                </a:solidFill>
              </a:rPr>
              <a:t>ABF载板唯一·超节点翻4-8倍需求·玻璃基板期权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3977640"/>
            <a:ext cx="8595360" cy="822960"/>
          </a:xfrm>
          <a:prstGeom prst="roundRect">
            <a:avLst>
              <a:gd name="adj" fmla="val 8889"/>
            </a:avLst>
          </a:prstGeom>
          <a:solidFill>
            <a:srgbClr val="16213E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40690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DA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星环科技-U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286000" y="40690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4E4E8"/>
                </a:solidFill>
              </a:rPr>
              <a:t>131亿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44348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8EA0"/>
                </a:solidFill>
              </a:rPr>
              <a:t>7.20/10·英伟达ISV+中信ArgoDB·等三信号之一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DA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防御仓+事件驱动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548640" cy="27432"/>
          </a:xfrm>
          <a:prstGeom prst="rect">
            <a:avLst/>
          </a:prstGeom>
          <a:solidFill>
            <a:srgbClr val="4DA6FF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097280"/>
            <a:ext cx="8595360" cy="822960"/>
          </a:xfrm>
          <a:prstGeom prst="roundRect">
            <a:avLst>
              <a:gd name="adj" fmla="val 8889"/>
            </a:avLst>
          </a:prstGeom>
          <a:solidFill>
            <a:srgbClr val="16213E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E8E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泰和新材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286000" y="11887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4E4E8"/>
                </a:solidFill>
              </a:rPr>
              <a:t>122亿·PB1.7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8EA0"/>
                </a:solidFill>
              </a:rPr>
              <a:t>极度超卖·等主力转正·B+防御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2057400"/>
            <a:ext cx="8595360" cy="822960"/>
          </a:xfrm>
          <a:prstGeom prst="roundRect">
            <a:avLst>
              <a:gd name="adj" fmla="val 8889"/>
            </a:avLst>
          </a:prstGeom>
          <a:solidFill>
            <a:srgbClr val="16213E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1488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E8E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华峰化学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286000" y="2148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4E4E8"/>
                </a:solidFill>
              </a:rPr>
              <a:t>502亿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25146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8EA0"/>
                </a:solidFill>
              </a:rPr>
              <a:t>化工周期对冲·氨纶涨价30%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3017520"/>
            <a:ext cx="8595360" cy="822960"/>
          </a:xfrm>
          <a:prstGeom prst="roundRect">
            <a:avLst>
              <a:gd name="adj" fmla="val 8889"/>
            </a:avLst>
          </a:prstGeom>
          <a:solidFill>
            <a:srgbClr val="16213E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1089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E8E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太钢+德展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286000" y="31089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4E4E8"/>
                </a:solidFill>
              </a:rPr>
              <a:t>194亿+68亿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34747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8EA0"/>
                </a:solidFill>
              </a:rPr>
              <a:t>钢铁/医药防御·组合减震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3977640"/>
            <a:ext cx="8595360" cy="822960"/>
          </a:xfrm>
          <a:prstGeom prst="roundRect">
            <a:avLst>
              <a:gd name="adj" fmla="val 8889"/>
            </a:avLst>
          </a:prstGeom>
          <a:solidFill>
            <a:srgbClr val="16213E"/>
          </a:solidFill>
          <a:ln w="12700">
            <a:solidFill>
              <a:srgbClr val="3DD68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0690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D68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欧林生物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286000" y="40690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4E4E8"/>
                </a:solidFill>
              </a:rPr>
              <a:t>180亿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44348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8EA0"/>
                </a:solidFill>
              </a:rPr>
              <a:t>金葡菌73%效力！揭盲成功·迷你仓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DA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观察跟踪·7只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548640" cy="27432"/>
          </a:xfrm>
          <a:prstGeom prst="rect">
            <a:avLst/>
          </a:prstGeom>
          <a:solidFill>
            <a:srgbClr val="4DA6FF"/>
          </a:solidFill>
          <a:ln/>
        </p:spPr>
      </p:sp>
      <p:sp>
        <p:nvSpPr>
          <p:cNvPr id="4" name="Shape 2"/>
          <p:cNvSpPr/>
          <p:nvPr/>
        </p:nvSpPr>
        <p:spPr>
          <a:xfrm>
            <a:off x="182880" y="1097280"/>
            <a:ext cx="8778240" cy="502920"/>
          </a:xfrm>
          <a:prstGeom prst="roundRect">
            <a:avLst>
              <a:gd name="adj" fmla="val 10909"/>
            </a:avLst>
          </a:prstGeom>
          <a:solidFill>
            <a:srgbClr val="16213E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1887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DA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中际旭创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011680" y="11887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4E8"/>
                </a:solidFill>
              </a:rPr>
              <a:t>1.22万亿·PE81.6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0" y="11887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8EA0"/>
                </a:solidFill>
              </a:rPr>
              <a:t>不追·PE已PRICE IN未来3年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82880" y="1664208"/>
            <a:ext cx="8778240" cy="502920"/>
          </a:xfrm>
          <a:prstGeom prst="roundRect">
            <a:avLst>
              <a:gd name="adj" fmla="val 10909"/>
            </a:avLst>
          </a:prstGeom>
          <a:solidFill>
            <a:srgbClr val="16213E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175564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DA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胜宏科技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011680" y="17556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4E8"/>
                </a:solidFill>
              </a:rPr>
              <a:t>2594亿·PE57.1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0" y="175564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8EA0"/>
                </a:solidFill>
              </a:rPr>
              <a:t>等回调200-220元建仓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82880" y="2231136"/>
            <a:ext cx="8778240" cy="502920"/>
          </a:xfrm>
          <a:prstGeom prst="roundRect">
            <a:avLst>
              <a:gd name="adj" fmla="val 10909"/>
            </a:avLst>
          </a:prstGeom>
          <a:solidFill>
            <a:srgbClr val="16213E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" y="2322576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DA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工业富联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011680" y="232257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4E8"/>
                </a:solidFill>
              </a:rPr>
              <a:t>1.32万亿·PE32.4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0" y="232257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8EA0"/>
                </a:solidFill>
              </a:rPr>
              <a:t>观察·空间收窄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" y="2798064"/>
            <a:ext cx="8778240" cy="502920"/>
          </a:xfrm>
          <a:prstGeom prst="roundRect">
            <a:avLst>
              <a:gd name="adj" fmla="val 10909"/>
            </a:avLst>
          </a:prstGeom>
          <a:solidFill>
            <a:srgbClr val="16213E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2889504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DA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立讯精密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011680" y="288950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4E8"/>
                </a:solidFill>
              </a:rPr>
              <a:t>4760亿·PE27.9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0" y="288950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8EA0"/>
                </a:solidFill>
              </a:rPr>
              <a:t>观察·估值合理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2880" y="3364992"/>
            <a:ext cx="8778240" cy="502920"/>
          </a:xfrm>
          <a:prstGeom prst="roundRect">
            <a:avLst>
              <a:gd name="adj" fmla="val 10909"/>
            </a:avLst>
          </a:prstGeom>
          <a:solidFill>
            <a:srgbClr val="16213E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345643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DA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锡业股份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011680" y="34564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4E8"/>
                </a:solidFill>
              </a:rPr>
              <a:t>600亿·PE25.7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0" y="345643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8EA0"/>
                </a:solidFill>
              </a:rPr>
              <a:t>等回调·PB&lt;2.5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2880" y="3931920"/>
            <a:ext cx="8778240" cy="502920"/>
          </a:xfrm>
          <a:prstGeom prst="roundRect">
            <a:avLst>
              <a:gd name="adj" fmla="val 10909"/>
            </a:avLst>
          </a:prstGeom>
          <a:solidFill>
            <a:srgbClr val="16213E"/>
          </a:solidFill>
          <a:ln/>
        </p:spPr>
      </p:sp>
      <p:sp>
        <p:nvSpPr>
          <p:cNvPr id="25" name="Text 23"/>
          <p:cNvSpPr/>
          <p:nvPr/>
        </p:nvSpPr>
        <p:spPr>
          <a:xfrm>
            <a:off x="365760" y="40233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DA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中远海能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011680" y="4023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4E8"/>
                </a:solidFill>
              </a:rPr>
              <a:t>805亿·PE10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0" y="40233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8EA0"/>
                </a:solidFill>
              </a:rPr>
              <a:t>警惕·海峡通航后减仓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2880" y="4498848"/>
            <a:ext cx="8778240" cy="502920"/>
          </a:xfrm>
          <a:prstGeom prst="roundRect">
            <a:avLst>
              <a:gd name="adj" fmla="val 10909"/>
            </a:avLst>
          </a:prstGeom>
          <a:solidFill>
            <a:srgbClr val="16213E"/>
          </a:solidFill>
          <a:ln/>
        </p:spPr>
      </p:sp>
      <p:sp>
        <p:nvSpPr>
          <p:cNvPr id="29" name="Text 27"/>
          <p:cNvSpPr/>
          <p:nvPr/>
        </p:nvSpPr>
        <p:spPr>
          <a:xfrm>
            <a:off x="365760" y="459028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DA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华丰科技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011680" y="45902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4E8"/>
                </a:solidFill>
              </a:rPr>
              <a:t>946亿·PE219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72000" y="45902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8EA0"/>
                </a:solidFill>
              </a:rPr>
              <a:t>观察·卡位独特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DA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关键时间节点·下一步计划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548640" cy="27432"/>
          </a:xfrm>
          <a:prstGeom prst="rect">
            <a:avLst/>
          </a:prstGeom>
          <a:solidFill>
            <a:srgbClr val="4DA6FF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097280"/>
            <a:ext cx="8595360" cy="530352"/>
          </a:xfrm>
          <a:prstGeom prst="roundRect">
            <a:avLst>
              <a:gd name="adj" fmla="val 13793"/>
            </a:avLst>
          </a:prstGeom>
          <a:solidFill>
            <a:srgbClr val="16213E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7043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8EA0"/>
                </a:solidFill>
              </a:rPr>
              <a:t>7/15 周二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35331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DA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ASML财报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00400" y="1234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8EA0"/>
                </a:solidFill>
              </a:rPr>
              <a:t>罗博·设备链景气验证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737360"/>
            <a:ext cx="8595360" cy="530352"/>
          </a:xfrm>
          <a:prstGeom prst="roundRect">
            <a:avLst>
              <a:gd name="adj" fmla="val 13793"/>
            </a:avLst>
          </a:prstGeom>
          <a:solidFill>
            <a:srgbClr val="16213E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81051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8EA0"/>
                </a:solidFill>
              </a:rPr>
              <a:t>★7/16 周三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1993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DA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台积电财报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00400" y="1874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8EA0"/>
                </a:solidFill>
              </a:rPr>
              <a:t>全AI链最重要风向标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377440"/>
            <a:ext cx="8595360" cy="530352"/>
          </a:xfrm>
          <a:prstGeom prst="roundRect">
            <a:avLst>
              <a:gd name="adj" fmla="val 13793"/>
            </a:avLst>
          </a:prstGeom>
          <a:solidFill>
            <a:srgbClr val="16213E"/>
          </a:solidFill>
          <a:ln w="12700">
            <a:solidFill>
              <a:srgbClr val="F0A0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45059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8EA0"/>
                </a:solidFill>
              </a:rPr>
              <a:t>★7/23 周三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263347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A0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GOOGLE CSP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200400" y="2514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8EA0"/>
                </a:solidFill>
              </a:rPr>
              <a:t>CSP四连击第一枪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3017520"/>
            <a:ext cx="8595360" cy="530352"/>
          </a:xfrm>
          <a:prstGeom prst="roundRect">
            <a:avLst>
              <a:gd name="adj" fmla="val 13793"/>
            </a:avLst>
          </a:prstGeom>
          <a:solidFill>
            <a:srgbClr val="16213E"/>
          </a:solidFill>
          <a:ln w="12700">
            <a:solidFill>
              <a:srgbClr val="F0A04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09067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8EA0"/>
                </a:solidFill>
              </a:rPr>
              <a:t>★7/30 周三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327355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A0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META+微软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200400" y="3154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8EA0"/>
                </a:solidFill>
              </a:rPr>
              <a:t>CSP第二/三枪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3657600"/>
            <a:ext cx="8595360" cy="530352"/>
          </a:xfrm>
          <a:prstGeom prst="roundRect">
            <a:avLst>
              <a:gd name="adj" fmla="val 13793"/>
            </a:avLst>
          </a:prstGeom>
          <a:solidFill>
            <a:srgbClr val="16213E"/>
          </a:solidFill>
          <a:ln w="12700">
            <a:solidFill>
              <a:srgbClr val="F0A04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7307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8EA0"/>
                </a:solidFill>
              </a:rPr>
              <a:t>★7/31 周四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391363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A0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亚马逊 CSP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200400" y="3794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8EA0"/>
                </a:solidFill>
              </a:rPr>
              <a:t>四连击收官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4297680"/>
            <a:ext cx="8595360" cy="530352"/>
          </a:xfrm>
          <a:prstGeom prst="roundRect">
            <a:avLst>
              <a:gd name="adj" fmla="val 13793"/>
            </a:avLst>
          </a:prstGeom>
          <a:solidFill>
            <a:srgbClr val="16213E"/>
          </a:solidFill>
          <a:ln w="12700">
            <a:solidFill>
              <a:srgbClr val="F0A04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37083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8EA0"/>
                </a:solidFill>
              </a:rPr>
              <a:t>7/29 周二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455371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A0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希捷/安费诺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200400" y="44348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8EA0"/>
                </a:solidFill>
              </a:rPr>
              <a:t>澜起·同业交叉验证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4754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A0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持仓不增不减·等双线确认后再调整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持仓逻辑更新·2026-07-12</dc:creator>
  <cp:lastModifiedBy>持仓逻辑更新·2026-07-12</cp:lastModifiedBy>
  <cp:revision>1</cp:revision>
  <dcterms:created xsi:type="dcterms:W3CDTF">2026-07-12T02:44:47Z</dcterms:created>
  <dcterms:modified xsi:type="dcterms:W3CDTF">2026-07-12T02:44:47Z</dcterms:modified>
</cp:coreProperties>
</file>