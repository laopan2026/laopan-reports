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4E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自选清单全扫描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DA6FF"/>
                </a:solidFill>
              </a:rPr>
              <a:t>V4.0投研体系·19只标的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A040"/>
                </a:solidFill>
              </a:rPr>
              <a:t>持仓12只 + 观察跟踪7只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E8EA0"/>
                </a:solidFill>
              </a:rPr>
              <a:t>五阶段定位+六大卡点+驱动力+仓位建议 | 2026-07-11 · Wind数据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持仓·S级核心（4只）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548640" cy="27432"/>
          </a:xfrm>
          <a:prstGeom prst="rect">
            <a:avLst/>
          </a:prstGeom>
          <a:solidFill>
            <a:srgbClr val="4DA6F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188720"/>
            <a:ext cx="85953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 w="12700">
            <a:solidFill>
              <a:srgbClr val="F0A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0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澜起科技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8"/>
                </a:solidFill>
              </a:rPr>
              <a:t>3299亿·127.9x · ②③双卡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1371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底仓不动·内存接口断层第一 · 3→4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148840"/>
            <a:ext cx="85953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 w="12700">
            <a:solidFill>
              <a:srgbClr val="F0A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0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汇绿生态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560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8"/>
                </a:solidFill>
              </a:rPr>
              <a:t>341亿·409.8x · ⑤CPO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持有·EML紧缺到2028 · 3→4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108960"/>
            <a:ext cx="85953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 w="12700">
            <a:solidFill>
              <a:srgbClr val="F0A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200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0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罗博特科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8"/>
                </a:solidFill>
              </a:rPr>
              <a:t>820亿·亏损 · ①⑤双卡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持有·ficonTEC+台积电CoWoS · 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4069080"/>
            <a:ext cx="85953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 w="12700">
            <a:solidFill>
              <a:srgbClr val="F0A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160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0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三祥新材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480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8"/>
                </a:solidFill>
              </a:rPr>
              <a:t>314亿·222.6x · ①间接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4251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S级500亿前不减·固态电池 · 2→3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持仓·利润仓+防御（8只）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548640" cy="27432"/>
          </a:xfrm>
          <a:prstGeom prst="rect">
            <a:avLst/>
          </a:prstGeom>
          <a:solidFill>
            <a:srgbClr val="4DA6FF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1188720"/>
            <a:ext cx="8778240" cy="420624"/>
          </a:xfrm>
          <a:prstGeom prst="roundRect">
            <a:avLst>
              <a:gd name="adj" fmla="val 13043"/>
            </a:avLst>
          </a:prstGeom>
          <a:solidFill>
            <a:srgbClr val="16213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2618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兴森科技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828800" y="126187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699亿 · ④载板 · 利润仓·ABF国产替代/负成本 · 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1664208"/>
            <a:ext cx="8778240" cy="420624"/>
          </a:xfrm>
          <a:prstGeom prst="roundRect">
            <a:avLst>
              <a:gd name="adj" fmla="val 13043"/>
            </a:avLst>
          </a:prstGeom>
          <a:solidFill>
            <a:srgbClr val="16213E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737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星环科技-U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373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131亿 · 无直接 · 利润仓·英伟达ISV+中信ArgoDB · 2→3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" y="2139696"/>
            <a:ext cx="8778240" cy="420624"/>
          </a:xfrm>
          <a:prstGeom prst="roundRect">
            <a:avLst>
              <a:gd name="adj" fmla="val 13043"/>
            </a:avLst>
          </a:prstGeom>
          <a:solidFill>
            <a:srgbClr val="16213E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212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软通动力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22128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433亿 · 无直接 · A级·浮盈+418%标杆/AI应用 · 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" y="2615184"/>
            <a:ext cx="8778240" cy="420624"/>
          </a:xfrm>
          <a:prstGeom prst="roundRect">
            <a:avLst>
              <a:gd name="adj" fmla="val 13043"/>
            </a:avLst>
          </a:prstGeom>
          <a:solidFill>
            <a:srgbClr val="16213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6883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华峰化学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268833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502亿 · 无直接 · 防御·化工周期对冲 · 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2880" y="3090672"/>
            <a:ext cx="8778240" cy="420624"/>
          </a:xfrm>
          <a:prstGeom prst="roundRect">
            <a:avLst>
              <a:gd name="adj" fmla="val 13043"/>
            </a:avLst>
          </a:prstGeom>
          <a:solidFill>
            <a:srgbClr val="16213E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163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太钢不锈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28800" y="316382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194亿 · 无直接 · 防御·钢铁周期/组合减震 · 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3566160"/>
            <a:ext cx="8778240" cy="420624"/>
          </a:xfrm>
          <a:prstGeom prst="roundRect">
            <a:avLst>
              <a:gd name="adj" fmla="val 13043"/>
            </a:avLst>
          </a:prstGeom>
          <a:solidFill>
            <a:srgbClr val="16213E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德展健康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6393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68亿 · 无直接 · 防御·医药防御 · 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2880" y="4041648"/>
            <a:ext cx="8778240" cy="420624"/>
          </a:xfrm>
          <a:prstGeom prst="roundRect">
            <a:avLst>
              <a:gd name="adj" fmla="val 13043"/>
            </a:avLst>
          </a:prstGeom>
          <a:solidFill>
            <a:srgbClr val="16213E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泰和新材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28800" y="41148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122亿 · ⑥间接 · 防御·极度超卖等信号 · 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2880" y="4517136"/>
            <a:ext cx="8778240" cy="420624"/>
          </a:xfrm>
          <a:prstGeom prst="roundRect">
            <a:avLst>
              <a:gd name="adj" fmla="val 13043"/>
            </a:avLst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45902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欧林生物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828800" y="459028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180亿 · 无直接 · 迷你仓·金葡菌疫苗揭盲 · 1→2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观察跟踪·前三只（重点）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548640" cy="27432"/>
          </a:xfrm>
          <a:prstGeom prst="rect">
            <a:avLst/>
          </a:prstGeom>
          <a:solidFill>
            <a:srgbClr val="4DA6F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188720"/>
            <a:ext cx="8595360" cy="1051560"/>
          </a:xfrm>
          <a:prstGeom prst="roundRect">
            <a:avLst>
              <a:gd name="adj" fmla="val 8696"/>
            </a:avLst>
          </a:prstGeom>
          <a:solidFill>
            <a:srgbClr val="16213E"/>
          </a:solidFill>
          <a:ln w="12700">
            <a:solidFill>
              <a:srgbClr val="4DA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中际旭创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8"/>
                </a:solidFill>
              </a:rPr>
              <a:t>12200亿·81.6x · 卡点:⑤光模块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A0"/>
                </a:solidFill>
              </a:rPr>
              <a:t>光模块全球龙头/2027E千亿净利 · 阶段4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377440"/>
            <a:ext cx="8595360" cy="1051560"/>
          </a:xfrm>
          <a:prstGeom prst="roundRect">
            <a:avLst>
              <a:gd name="adj" fmla="val 8696"/>
            </a:avLst>
          </a:prstGeom>
          <a:solidFill>
            <a:srgbClr val="16213E"/>
          </a:solidFill>
          <a:ln w="12700">
            <a:solidFill>
              <a:srgbClr val="4D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胜宏科技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8"/>
                </a:solidFill>
              </a:rPr>
              <a:t>2594亿·57.1x · 卡点:④⑤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A0"/>
                </a:solidFill>
              </a:rPr>
              <a:t>AI PCB全球#1/泰国2027放量 · 阶段3→4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566160"/>
            <a:ext cx="8595360" cy="1051560"/>
          </a:xfrm>
          <a:prstGeom prst="roundRect">
            <a:avLst>
              <a:gd name="adj" fmla="val 8696"/>
            </a:avLst>
          </a:prstGeom>
          <a:solidFill>
            <a:srgbClr val="16213E"/>
          </a:solidFill>
          <a:ln w="12700">
            <a:solidFill>
              <a:srgbClr val="4D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工业富联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8"/>
                </a:solidFill>
              </a:rPr>
              <a:t>13151亿·32.4x · 卡点:间接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A0"/>
                </a:solidFill>
              </a:rPr>
              <a:t>AI服务器ODM/空间收窄 · 阶段4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观察跟踪·后四只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548640" cy="27432"/>
          </a:xfrm>
          <a:prstGeom prst="rect">
            <a:avLst/>
          </a:prstGeom>
          <a:solidFill>
            <a:srgbClr val="4DA6F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188720"/>
            <a:ext cx="85953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立讯精密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8"/>
                </a:solidFill>
              </a:rPr>
              <a:t>4760亿·27.9x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消费电子+AI硬件/Apple Vision+AI服务器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040"/>
                </a:solidFill>
              </a:rPr>
              <a:t>阶段:3→4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148840"/>
            <a:ext cx="85953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华丰科技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2240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8"/>
                </a:solidFill>
              </a:rPr>
              <a:t>946亿·219x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电连接器+卫星通信/卡位独特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2240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040"/>
                </a:solidFill>
              </a:rPr>
              <a:t>阶段:3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3108960"/>
            <a:ext cx="85953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00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锡业股份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8"/>
                </a:solidFill>
              </a:rPr>
              <a:t>600亿·25.7x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锡全球27%断层/PB 92.8%偏贵/等回调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0" y="3200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040"/>
                </a:solidFill>
              </a:rPr>
              <a:t>阶段:3→4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4069080"/>
            <a:ext cx="85953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 w="12700">
            <a:solidFill>
              <a:srgbClr val="FF56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160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65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中远海能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8600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8"/>
                </a:solidFill>
              </a:rPr>
              <a:t>805亿·10x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VLCC全球老大/霍尔木兹地缘/不加仓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0" y="4160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040"/>
                </a:solidFill>
              </a:rPr>
              <a:t>阶段:4→5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阶段分布·驱动力结构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548640" cy="27432"/>
          </a:xfrm>
          <a:prstGeom prst="rect">
            <a:avLst/>
          </a:prstGeom>
          <a:solidFill>
            <a:srgbClr val="4DA6F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188720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3DD6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618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3→4 业绩兑现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0" y="1280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E4E8"/>
                </a:solidFill>
              </a:rPr>
              <a:t>5只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0" y="12984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澜起/汇绿/兴森/锡业/胜宏/立讯/工业富联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901952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F0A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751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0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2→3 供应链形成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199339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E4E8"/>
                </a:solidFill>
              </a:rPr>
              <a:t>4只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0" y="2011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罗博/三祥/星环/华丰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615184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883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业绩兑现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270662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E4E8"/>
                </a:solidFill>
              </a:rPr>
              <a:t>2只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0" y="27249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软通/中际旭创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FF56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4015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65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4→5 成熟/周期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34198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E4E8"/>
                </a:solidFill>
              </a:rPr>
              <a:t>1只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114800" y="343814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中远海能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04164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4D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114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阶段5 防御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0" y="413308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E4E8"/>
                </a:solidFill>
              </a:rPr>
              <a:t>4只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0" y="4151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泰和/华峰/太钢/德展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754880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8E8E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8280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8E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1→2 概念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004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E4E8"/>
                </a:solidFill>
              </a:rPr>
              <a:t>1只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11480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欧林生物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主仓位13/19只在3→4业绩兑现·甜蜜点集中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六大卡点·19只标的覆盖图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548640" cy="27432"/>
          </a:xfrm>
          <a:prstGeom prst="rect">
            <a:avLst/>
          </a:prstGeom>
          <a:solidFill>
            <a:srgbClr val="4DA6F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188720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1621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①先进封装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0" y="12618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D68C"/>
                </a:solidFill>
              </a:rPr>
              <a:t>持仓:罗博/兴森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1261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A6FF"/>
                </a:solidFill>
              </a:rPr>
              <a:t>观察:华丰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4904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★★★★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847088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16213E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②HBM·HBF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1920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D68C"/>
                </a:solidFill>
              </a:rPr>
              <a:t>持仓:澜起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0" y="1920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A6FF"/>
                </a:solidFill>
              </a:rPr>
              <a:t>观察:锡业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0" y="21488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★★★★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505456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16213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57860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③接口与互连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25786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D68C"/>
                </a:solidFill>
              </a:rPr>
              <a:t>持仓:澜起(断层)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2578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A6FF"/>
                </a:solidFill>
              </a:rPr>
              <a:t>观察:—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0" y="2807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★★★★★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163824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16213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23697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④存储原厂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743200" y="323697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D68C"/>
                </a:solidFill>
              </a:rPr>
              <a:t>持仓:兴森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323697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A6FF"/>
                </a:solidFill>
              </a:rPr>
              <a:t>观察:胜宏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465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★★★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822192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16213E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89534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⑤CPO/光通信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743200" y="389534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D68C"/>
                </a:solidFill>
              </a:rPr>
              <a:t>持仓:汇绿/罗博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0" y="389534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A6FF"/>
                </a:solidFill>
              </a:rPr>
              <a:t>观察:中际/胜宏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43200" y="41239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★★★★★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480560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16213E"/>
          </a:solidFill>
          <a:ln w="12700">
            <a:solidFill>
              <a:srgbClr val="FF565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5537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65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⑥800V+高频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743200" y="455371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D68C"/>
                </a:solidFill>
              </a:rPr>
              <a:t>持仓:三祥(间接)/泰和(间接)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4553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A6FF"/>
                </a:solidFill>
              </a:rPr>
              <a:t>观察:—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743200" y="4782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★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5656"/>
                </a:solidFill>
              </a:rPr>
              <a:t>⑥800V供电+高频材料=唯一薄弱卡点·未来跟踪池扩容方向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操作总结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548640" cy="27432"/>
          </a:xfrm>
          <a:prstGeom prst="rect">
            <a:avLst/>
          </a:prstGeom>
          <a:solidFill>
            <a:srgbClr val="4DA6F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188720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3DD6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持有不动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560320" y="12618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8"/>
                </a:solidFill>
              </a:rPr>
              <a:t>12只核心持仓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60320" y="150876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逻辑未破不减仓=S级纪律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920240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F0A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011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0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加仓观察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560320" y="1993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8"/>
                </a:solidFill>
              </a:rPr>
              <a:t>汇绿/澜起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224028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周一恐慌低开3%+且美股企稳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651760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4D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回调建仓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60320" y="27249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8"/>
                </a:solidFill>
              </a:rPr>
              <a:t>胜宏(200-220)/锡业(30-32)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60320" y="29718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等PB回调+CSP四连击验证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383280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8E8E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474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8E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不追/观望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56032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8"/>
                </a:solidFill>
              </a:rPr>
              <a:t>中际/工业富联/立讯/华丰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370332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PE偏高或β已覆盖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114800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213E"/>
          </a:solidFill>
          <a:ln w="12700">
            <a:solidFill>
              <a:srgbClr val="FF565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65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警惕减仓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560320" y="4187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8"/>
                </a:solidFill>
              </a:rPr>
              <a:t>中远海能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560320" y="443484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A0"/>
                </a:solidFill>
              </a:rPr>
              <a:t>海峡恢复通航1-2月内减仓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0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核心纪律：持仓不增不减·等CSP四连击双线确认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V4.0投研体系·自选清单扫描</dc:creator>
  <cp:lastModifiedBy>V4.0投研体系·自选清单扫描</cp:lastModifiedBy>
  <cp:revision>1</cp:revision>
  <dcterms:created xsi:type="dcterms:W3CDTF">2026-07-11T10:02:19Z</dcterms:created>
  <dcterms:modified xsi:type="dcterms:W3CDTF">2026-07-11T10:02:19Z</dcterms:modified>
</cp:coreProperties>
</file>