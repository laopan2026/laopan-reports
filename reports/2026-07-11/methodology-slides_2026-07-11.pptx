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产业趋势投资方法论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200400" y="2468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3→4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A0"/>
                </a:solidFill>
              </a:rPr>
              <a:t>在正确的阶段  卡在正确的路口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A040"/>
                </a:solidFill>
              </a:rPr>
              <a:t>超额收益 = 阶段定位 × 技术卡点 × 纪律执行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投资的根本问题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7315200" cy="640080"/>
          </a:xfrm>
          <a:prstGeom prst="roundRect">
            <a:avLst>
              <a:gd name="adj" fmla="val 21429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533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买什么？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0" y="1389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4E8"/>
                </a:solidFill>
              </a:rPr>
              <a:t>找对赛道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7315200" cy="640080"/>
          </a:xfrm>
          <a:prstGeom prst="roundRect">
            <a:avLst>
              <a:gd name="adj" fmla="val 21429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762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什么时候买？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22128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4E8"/>
                </a:solidFill>
              </a:rPr>
              <a:t>找准阶段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7315200" cy="640080"/>
          </a:xfrm>
          <a:prstGeom prst="roundRect">
            <a:avLst>
              <a:gd name="adj" fmla="val 21429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99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买多少？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3035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4E8"/>
                </a:solidFill>
              </a:rPr>
              <a:t>配好仓位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3749040"/>
            <a:ext cx="7315200" cy="640080"/>
          </a:xfrm>
          <a:prstGeom prst="roundRect">
            <a:avLst>
              <a:gd name="adj" fmla="val 21429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221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什么时候走？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3858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4E8"/>
                </a:solidFill>
              </a:rPr>
              <a:t>盯住拐点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产业趋势五阶段模型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44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53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概念期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驱动：故事/预期  选股：小仓位博弈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8EA0"/>
                </a:solidFill>
              </a:rPr>
              <a:t>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939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5A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高度重视期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驱动：政策/事件  选股：轻仓试探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21214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8EA0"/>
                </a:solidFill>
              </a:rPr>
              <a:t>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E1A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4378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A75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供应链形成期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054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驱动：订单/产能  选股：选链主/卡位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28712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8C"/>
                </a:solidFill>
              </a:rPr>
              <a:t>起步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483864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2E1A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9359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3529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业绩兑现期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803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驱动：营收/净利  选股：重仓龙头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362102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8C"/>
                </a:solidFill>
              </a:rPr>
              <a:t>高增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423367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43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8A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成熟周期期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驱动：盈利/周期  选股：低估值/分红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43708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8EA0"/>
                </a:solidFill>
              </a:rPr>
              <a:t>稳定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68C"/>
                </a:solidFill>
              </a:rPr>
              <a:t>★ 重仓阶段3→4，这是胜率最高、赔率最优的区间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拐点信号：如何判断阶段跃迁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进入阶段3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订单连续放量、供应链关键节点落地、渗透率突码10%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</a:rPr>
              <a:t>开始建仓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50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进入阶段4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816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单季营收/净利连续高增、毛利率企稳回升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</a:rPr>
              <a:t>重仓加码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47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进入阶段5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913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行业增速&lt;15%、格局固化、CSP Capex下修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3611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</a:rPr>
              <a:t>降仓位转防守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六大技术卡点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先进封装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HBM堆叠/Chiplet拼装/CPO合封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HBM·HBF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内存墙唯一解法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接口与互连芯片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全球寡头格局  结构性高毛利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存储原厂产业链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国产替代确定性最高的通道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7432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CPO/硅光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2028光互连终极形态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16213E"/>
          </a:solidFill>
          <a:ln w="6350">
            <a:solidFill>
              <a:srgbClr val="4D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800V供电+高频材料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兆瓦机柜的供电革命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七步决策闭环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463040"/>
            <a:ext cx="1051560" cy="256032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" y="1645920"/>
            <a:ext cx="731520" cy="73152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大方向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AI大周期确认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1463040"/>
            <a:ext cx="1051560" cy="256032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1719072" y="1645920"/>
            <a:ext cx="731520" cy="73152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71907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主线筛选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四因子同命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1463040"/>
            <a:ext cx="1051560" cy="256032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2953512" y="1645920"/>
            <a:ext cx="731520" cy="73152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295351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8892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阶段定位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8892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五阶段模型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23360" y="1463040"/>
            <a:ext cx="1051560" cy="256032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4187952" y="1645920"/>
            <a:ext cx="731520" cy="73152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8795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2336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标的选择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2336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六大卡点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1463040"/>
            <a:ext cx="1051560" cy="256032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22392" y="1645920"/>
            <a:ext cx="731520" cy="73152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2239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5780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仓位配置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5780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3→4重仓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463040"/>
            <a:ext cx="1051560" cy="256032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656832" y="1645920"/>
            <a:ext cx="731520" cy="73152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31" name="Text 29"/>
          <p:cNvSpPr/>
          <p:nvPr/>
        </p:nvSpPr>
        <p:spPr>
          <a:xfrm>
            <a:off x="665683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9224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持有跟踪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9224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景气尺+同业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26680" y="1463040"/>
            <a:ext cx="1051560" cy="256032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/>
        </p:spPr>
      </p:sp>
      <p:sp>
        <p:nvSpPr>
          <p:cNvPr id="35" name="Shape 33"/>
          <p:cNvSpPr/>
          <p:nvPr/>
        </p:nvSpPr>
        <p:spPr>
          <a:xfrm>
            <a:off x="7891272" y="1645920"/>
            <a:ext cx="731520" cy="73152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36" name="Text 34"/>
          <p:cNvSpPr/>
          <p:nvPr/>
        </p:nvSpPr>
        <p:spPr>
          <a:xfrm>
            <a:off x="789127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72668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4E4E8"/>
                </a:solidFill>
              </a:rPr>
              <a:t>退出判断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72668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反转开关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案例：汇绿生态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8C"/>
                </a:solidFill>
              </a:rPr>
              <a:t>背景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AI算力需求爆发，800G/1.6T光模块渗透率从2024年不到5%快速攀升。汇绿作为Coherent/Lumentum/索尔斯在中国的代工合作伙伴，正在从代工厂向CPO核心环节跃迁。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阶段定位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926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阶段3→4：订单放量，客户结构清晰，等待中报业绩兑现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01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技术卡点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34015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对座⑤CPO/光通信。EML紧缺到2028年。LITE隔夜+11%确认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770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拐点信号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87705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OCS产能4000→15000台上修；华为OPEN NPO；COHR 8/13财报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352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仓位策略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43525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阶段3→4重仓，持有不减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案例：罗博特科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背景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</a:rPr>
              <a:t>ficonTEC是全球硅光设备市占率25.5%的龙头，直接供应台积电CoWoS产线。苏州400台/月5月刚满产。在手订单23亿。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阶段定位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7432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阶段3：设备供应链形成期。等待Q2单季扭亏确认进入阶段4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技术卡点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3246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双卡点：①先进封装设备+⑤CPO设备（台积电CoWoS唯一指定光电测试）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拐点信号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7490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CoWoS产能3年6倍扩产；台湾基地投产进度；Q2单季扭亏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仓位策略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4251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8"/>
                </a:solidFill>
              </a:rPr>
              <a:t>阶段3持有，等单季扭亏+台湾投产作为加仓信号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操作纪律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444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不追杀跌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444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逻辑未破不减仓。暴跌不是卖出理由，逻辑破坏才是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130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不情绪追高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2130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封板率低于50%不追。阶段2题材仅小仓位博弈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持仓分散化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28163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核心板块不超60%，保留阶段5防御仓做对冲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4290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502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财报季不增不减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3502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CSP四连击等关键节点前管住手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187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每次决策套闭环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4187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8"/>
                </a:solidFill>
              </a:rPr>
              <a:t>大方向→主线→阶段→标的→仓位→跟踪→退出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E8EA0"/>
                </a:solidFill>
              </a:rPr>
              <a:t>超额收益 =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正确的阶段 × 正确的卡点 × 严格的纪律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0" y="2926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3→4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E8EA0"/>
                </a:solidFill>
              </a:rPr>
              <a:t>产业趋势投资不是预测涨跌  是分配胜率和赔率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老潘的投资体系</dc:creator>
  <cp:lastModifiedBy>老潘的投资体系</cp:lastModifiedBy>
  <cp:revision>1</cp:revision>
  <dcterms:created xsi:type="dcterms:W3CDTF">2026-07-11T01:44:32Z</dcterms:created>
  <dcterms:modified xsi:type="dcterms:W3CDTF">2026-07-11T01:44:32Z</dcterms:modified>
</cp:coreProperties>
</file>